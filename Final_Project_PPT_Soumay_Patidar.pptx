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Average Years of Education by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Years of Education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9A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348-4087-BE39-6B9CBC8534DF}"/>
              </c:ext>
            </c:extLst>
          </c:dPt>
          <c:dPt>
            <c:idx val="1"/>
            <c:invertIfNegative val="0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348-4087-BE39-6B9CBC8534DF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2-Year Starters</c:v>
                </c:pt>
                <c:pt idx="1">
                  <c:v>4-Year Starters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13.51</c:v>
                </c:pt>
                <c:pt idx="1">
                  <c:v>14.89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48-4087-BE39-6B9CBC8534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0D1B2A"/>
                </a:solidFill>
                <a:latin typeface="Arial"/>
              </a:rPr>
              <a:t>Years of Education Lost: by Ethnicity (OLS)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Years of Education Lost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DD5-4D21-A351-611ACD57428B}"/>
              </c:ext>
            </c:extLst>
          </c:dPt>
          <c:dPt>
            <c:idx val="1"/>
            <c:invertIfNegative val="0"/>
            <c:bubble3D val="0"/>
            <c:spPr>
              <a:solidFill>
                <a:srgbClr val="0E9A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DD5-4D21-A351-611ACD57428B}"/>
              </c:ext>
            </c:extLst>
          </c:dPt>
          <c:dPt>
            <c:idx val="2"/>
            <c:invertIfNegative val="0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DD5-4D21-A351-611ACD57428B}"/>
              </c:ext>
            </c:extLst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Overall</c:v>
                </c:pt>
                <c:pt idx="1">
                  <c:v>Hispanic Students</c:v>
                </c:pt>
                <c:pt idx="2">
                  <c:v>Non-Hispanic Students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1.034</c:v>
                </c:pt>
                <c:pt idx="1">
                  <c:v>0.753</c:v>
                </c:pt>
                <c:pt idx="2">
                  <c:v>1.111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DD5-4D21-A351-611ACD5742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0D1B2A"/>
                </a:solidFill>
                <a:latin typeface="Arial"/>
              </a:rPr>
              <a:t>Years of Education Lost by Income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Years of Education Lost After Matching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8FA-4943-8CC7-5012A2309E50}"/>
              </c:ext>
            </c:extLst>
          </c:dPt>
          <c:dPt>
            <c:idx val="1"/>
            <c:invertIfNegative val="0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8FA-4943-8CC7-5012A2309E50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8FA-4943-8CC7-5012A2309E50}"/>
              </c:ext>
            </c:extLst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Low-Income
(&lt; $18K)</c:v>
                </c:pt>
                <c:pt idx="1">
                  <c:v>Higher-Income
(≥ $18K)</c:v>
                </c:pt>
                <c:pt idx="2">
                  <c:v>Overall
After Matching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1.2949999999999999</c:v>
                </c:pt>
                <c:pt idx="1">
                  <c:v>0.9</c:v>
                </c:pt>
                <c:pt idx="2">
                  <c:v>1.1399999999999999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FA-4943-8CC7-5012A2309E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Which Factors Matter Most (Random Forest)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Factor Importance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8B-4C0A-8F6F-FB60A7AE08A4}"/>
              </c:ext>
            </c:extLst>
          </c:dPt>
          <c:dPt>
            <c:idx val="1"/>
            <c:bubble3D val="0"/>
            <c:spPr>
              <a:solidFill>
                <a:srgbClr val="0E9A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8B-4C0A-8F6F-FB60A7AE08A4}"/>
              </c:ext>
            </c:extLst>
          </c:dPt>
          <c:dPt>
            <c:idx val="2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8B-4C0A-8F6F-FB60A7AE08A4}"/>
              </c:ext>
            </c:extLst>
          </c:dPt>
          <c:dPt>
            <c:idx val="3"/>
            <c:bubble3D val="0"/>
            <c:spPr>
              <a:solidFill>
                <a:srgbClr val="B0BE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A8B-4C0A-8F6F-FB60A7AE08A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A8B-4C0A-8F6F-FB60A7AE08A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A8B-4C0A-8F6F-FB60A7AE08A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A8B-4C0A-8F6F-FB60A7AE08A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A8B-4C0A-8F6F-FB60A7AE08A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bytest
(Test Score)</c:v>
                </c:pt>
                <c:pt idx="1">
                  <c:v>perwhite
(% White in School)</c:v>
                </c:pt>
                <c:pt idx="2">
                  <c:v>fincome
(Income)</c:v>
                </c:pt>
                <c:pt idx="3">
                  <c:v>Other Factors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53.2</c:v>
                </c:pt>
                <c:pt idx="1">
                  <c:v>16.100000000000001</c:v>
                </c:pt>
                <c:pt idx="2">
                  <c:v>11</c:v>
                </c:pt>
                <c:pt idx="3">
                  <c:v>19.7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A8B-4C0A-8F6F-FB60A7AE08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7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64008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Democratization or Diversion?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of Community Colleges on Educational Attainment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2423160"/>
            <a:ext cx="8412480" cy="3657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4,437 students · High School &amp; Beyond · Class of 1980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OLS · Propensity Score Matching · Random Forest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3794760"/>
            <a:ext cx="4572000" cy="555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Soumay Patidar</a:t>
            </a:r>
            <a:b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G49824793</a:t>
            </a:r>
            <a:b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DATS 6103: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Research Problem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196596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051560"/>
            <a:ext cx="1965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4,437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709928"/>
            <a:ext cx="196596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Dataset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005840"/>
            <a:ext cx="196596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77440" y="1051560"/>
            <a:ext cx="1965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1,689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377440" y="1709928"/>
            <a:ext cx="196596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2-Year College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1005840"/>
            <a:ext cx="1965960" cy="12801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1051560"/>
            <a:ext cx="1965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2,748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26280" y="1709928"/>
            <a:ext cx="196596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4-Year College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005840"/>
            <a:ext cx="2240280" cy="12801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1051560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75120" y="1709928"/>
            <a:ext cx="224028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Senior Cohort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569465"/>
            <a:ext cx="4160520" cy="1380744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8600" y="2514600"/>
            <a:ext cx="416052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8328" y="2587752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vs Control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2898648"/>
            <a:ext cx="394106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Treatment (twoyr=1): Started at a 2-year community college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Control (twoyr=0): Started at a 4-year college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Outcome (educ86): Years of education completed by 1986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2514600"/>
            <a:ext cx="434340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2514600"/>
            <a:ext cx="434340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81728" y="2587752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81728" y="2898648"/>
            <a:ext cx="412394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Does starting at a community college reduce a student's total years of education?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factors we control for: race, income, parental education, test score, urban, ownhome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Analysis: Key Findings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005840"/>
          <a:ext cx="41148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1005840"/>
            <a:ext cx="4343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0" y="1005840"/>
            <a:ext cx="434340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681728" y="1024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81728" y="1371600"/>
            <a:ext cx="41148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 students: 25.4% in 2-yr vs 14.5% in 4-yr colleges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2-yr starters have lower avg test scores (48.88 vs 54.40)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income gap: 2-yr avg $20,141 vs 4-yr avg $23,538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income in dataset: $18,000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test score in dataset: 52.82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gap in education: 1.38 years less for 2-yr students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42519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two groups differ on income, test scores, and family background, a direct comparison is not fair.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SMART Research Questions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8686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1188720" cy="11887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OLS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0607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starting at a community college hurt Hispanic students less than non-Hispanic students, after controlling for income, parental education, and test scores?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08760" y="162763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unique: Hispanic students are 25.4% of 2-yr starters vs 14.5% of 4-yr, the biggest group difference in the data.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304288"/>
            <a:ext cx="8686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8600" y="2304288"/>
            <a:ext cx="1188720" cy="11887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" y="230428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PSM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3591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matching students with similar backgrounds, does the community college penalty differ between low-income (below $18K) and higher-income students?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08760" y="292608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unique: Uses the actual middle income from the dataset ($18K). Checks if the penalty is different by income group.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602736"/>
            <a:ext cx="8686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3602736"/>
            <a:ext cx="1188720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" y="3602736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Random Forest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3657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student background factor matters most in predicting years of education and does test score (bytest) play the biggest role?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08760" y="422452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unique: The model shows us which factors drive educational outcomes, we use this to understand the data better.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1: OLS Regression: Hispanic vs Non-Hispanic Students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828419330"/>
              </p:ext>
            </p:extLst>
          </p:nvPr>
        </p:nvGraphicFramePr>
        <p:xfrm>
          <a:off x="228600" y="1005840"/>
          <a:ext cx="47548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166360" y="1005840"/>
            <a:ext cx="3749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166360" y="1005840"/>
            <a:ext cx="374904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276088" y="1024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Findings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76088" y="1371600"/>
            <a:ext cx="35204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penalty: -1.03 years of education lost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 students: -0.75 years lost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Non-Hispanic students: -1.11 years lost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 penalty is about 0.36 years smaller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reason: community colleges are closer and more affordable for Hispanic students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28600" y="42519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YES, Hispanic students lose 0.75 years vs 1.11 years for non-Hispanic students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2: Propensity Score Matching: Low vs Higher Income Students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616004079"/>
              </p:ext>
            </p:extLst>
          </p:nvPr>
        </p:nvGraphicFramePr>
        <p:xfrm>
          <a:off x="228600" y="1005840"/>
          <a:ext cx="47548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166360" y="1005840"/>
            <a:ext cx="3749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166360" y="1005840"/>
            <a:ext cx="374904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276088" y="1024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 Findings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76088" y="1371600"/>
            <a:ext cx="35204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 matches 2-yr &amp; 4-yr students with similar backgrounds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income in data: $18,000 (used as split point)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students: 1.295 years lost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Higher-income students: 0.900 years lost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0.395 years, low-income students are hurt MORE (1.295 yrs) than higher-income students (0.900 yrs)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28600" y="42519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Low-income students lose 1.295 years vs 0.900 for higher-income, low-income hurt more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3: Random Forest: Which Factors Matter Most?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00584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1005840"/>
            <a:ext cx="4343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0" y="1005840"/>
            <a:ext cx="4343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681728" y="1024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Findings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81728" y="13716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score (bytest) = 53.2%, by far the #1 factor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White in school (perwhite) = 16.1%, 2nd biggest factor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income = 11.0%, 3rd factor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below middle test score (52.82): lose 0.958 years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above middle test score (52.82): lose 1.186 years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groups are similarly hurt, the penalty does not change much by test score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28600" y="4343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Test score is the biggest predictor of education, but both score groups lose similar years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All Three Methods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611847"/>
              </p:ext>
            </p:extLst>
          </p:nvPr>
        </p:nvGraphicFramePr>
        <p:xfrm>
          <a:off x="228600" y="1051560"/>
          <a:ext cx="8686800" cy="21945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Effect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F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-1.03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Hispanic penalty smaller (-0.75 vs -1.11 yrs)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easy to understand, controlled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F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Propensity Score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-1.14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income hurt more (1.30 vs 0.90 yrs): PSM 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Fairer comparison, matches similar students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F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~1.0 to 1.1 yrs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score = 53.2% most important factor overall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patterns that regression misses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365760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3657600"/>
            <a:ext cx="274320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/>
          <p:nvPr/>
        </p:nvSpPr>
        <p:spPr>
          <a:xfrm>
            <a:off x="338328" y="373075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all 3 agree 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" y="4041648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Starting at a community college reduces years of education by about 1 year on average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54680" y="365760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54680" y="3657600"/>
            <a:ext cx="274320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64408" y="373075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method for this study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64408" y="4041648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PSM is the best fit, it matches students with similar backgrounds before comparing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80760" y="365760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80760" y="3657600"/>
            <a:ext cx="2834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90488" y="373075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Rouse (1995) benchmark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90488" y="4041648"/>
            <a:ext cx="26151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Original OLS: -1.09 yrs. Our result -1.03 yrs,  consistent replication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8686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57200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" y="109728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161288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at a community college reduces education by about 1 year on average, confirmed by all 3 methods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8600" y="1828800"/>
            <a:ext cx="8686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1828800"/>
            <a:ext cx="457200" cy="62179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" y="182880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1892808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 students face a smaller penalty (0.75 yrs) vs non-Hispanic (1.11 yrs): OLS finding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2560320"/>
            <a:ext cx="8686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2560320"/>
            <a:ext cx="457200" cy="62179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256032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2624328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students are hurt more (1.295 yrs) vs higher-income (0.900 yrs): PSM finding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3291840"/>
            <a:ext cx="8686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8600" y="3291840"/>
            <a:ext cx="457200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8600" y="32918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3355848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score is the #1 factor overall (53.2%): students with higher scores are not clearly more protected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28600" y="402336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286000" y="2194560"/>
            <a:ext cx="4572000" cy="3657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Used: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  ·  Propensity Score Matching  ·  Random Forest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r>
              <a:rPr lang="en-US" sz="13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college reduces education by ~1 year,  Hispanic students are affected the least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91BF8B879F044A80A81A6641A4B8CB" ma:contentTypeVersion="4" ma:contentTypeDescription="Create a new document." ma:contentTypeScope="" ma:versionID="542fcdfbe29133e16f3e9cd192cd40e8">
  <xsd:schema xmlns:xsd="http://www.w3.org/2001/XMLSchema" xmlns:xs="http://www.w3.org/2001/XMLSchema" xmlns:p="http://schemas.microsoft.com/office/2006/metadata/properties" xmlns:ns3="d19fc63f-5e83-4a05-8803-ca95133313ac" targetNamespace="http://schemas.microsoft.com/office/2006/metadata/properties" ma:root="true" ma:fieldsID="31bdb394495f6b8caea86b8d39868769" ns3:_="">
    <xsd:import namespace="d19fc63f-5e83-4a05-8803-ca95133313a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9fc63f-5e83-4a05-8803-ca95133313a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96A0E5-688B-4DA1-A740-30005E6543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8530CF-08E0-4CF4-8F5C-0DA27A2823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9fc63f-5e83-4a05-8803-ca95133313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1D9F3D-5F63-46D0-A66B-F736FA07732E}">
  <ds:schemaRefs>
    <ds:schemaRef ds:uri="http://schemas.microsoft.com/office/infopath/2007/PartnerControls"/>
    <ds:schemaRef ds:uri="http://schemas.microsoft.com/office/2006/documentManagement/types"/>
    <ds:schemaRef ds:uri="http://purl.org/dc/terms/"/>
    <ds:schemaRef ds:uri="d19fc63f-5e83-4a05-8803-ca95133313ac"/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941</Words>
  <Application>Microsoft Office PowerPoint</Application>
  <PresentationFormat>On-screen Show (16:9)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Colleges &amp; Educational Attainment</dc:title>
  <dc:subject>PptxGenJS Presentation</dc:subject>
  <dc:creator>PptxGenJS</dc:creator>
  <cp:lastModifiedBy>Patidar, Soumay</cp:lastModifiedBy>
  <cp:revision>7</cp:revision>
  <dcterms:created xsi:type="dcterms:W3CDTF">2026-04-26T22:43:02Z</dcterms:created>
  <dcterms:modified xsi:type="dcterms:W3CDTF">2026-04-27T17:15:50Z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0x010100A991BF8B879F044A80A81A6641A4B8CB</vt:lpwstr>
  </property>
</Properties>
</file>